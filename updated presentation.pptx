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ate"/>
      <p:regular r:id="rId16"/>
      <p:italic r:id="rId17"/>
    </p:embeddedFont>
    <p:embeddedFont>
      <p:font typeface="Inter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Inter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ate-italic.fntdata"/><Relationship Id="rId16" Type="http://schemas.openxmlformats.org/officeDocument/2006/relationships/font" Target="fonts/Mat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.fntdata"/><Relationship Id="rId6" Type="http://schemas.openxmlformats.org/officeDocument/2006/relationships/slide" Target="slides/slide1.xml"/><Relationship Id="rId18" Type="http://schemas.openxmlformats.org/officeDocument/2006/relationships/font" Target="fonts/Inte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232285661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232285661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32285661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f232285661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32285661_2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f232285661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232285661_2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f232285661_2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232285661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f232285661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232285661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3f232285661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232285661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232285661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232285661_2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f232285661_2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232285661_2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f232285661_2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f232285661_2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f232285661_2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jpg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4">
            <a:alphaModFix/>
          </a:blip>
          <a:srcRect b="524" l="0" r="0" t="524"/>
          <a:stretch/>
        </p:blipFill>
        <p:spPr>
          <a:xfrm>
            <a:off x="0" y="0"/>
            <a:ext cx="9144000" cy="2286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grpSp>
        <p:nvGrpSpPr>
          <p:cNvPr id="55" name="Google Shape;55;p13"/>
          <p:cNvGrpSpPr/>
          <p:nvPr/>
        </p:nvGrpSpPr>
        <p:grpSpPr>
          <a:xfrm>
            <a:off x="381000" y="2476500"/>
            <a:ext cx="2667000" cy="2286000"/>
            <a:chOff x="0" y="0"/>
            <a:chExt cx="2667000" cy="2286000"/>
          </a:xfrm>
        </p:grpSpPr>
        <p:sp>
          <p:nvSpPr>
            <p:cNvPr id="56" name="Google Shape;56;p13"/>
            <p:cNvSpPr/>
            <p:nvPr/>
          </p:nvSpPr>
          <p:spPr>
            <a:xfrm>
              <a:off x="0" y="0"/>
              <a:ext cx="2667000" cy="22860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0"/>
              <a:ext cx="2667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Name</a:t>
              </a:r>
              <a:endParaRPr b="1" i="0" sz="16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Model_monkeys</a:t>
              </a:r>
              <a:endParaRPr b="1" i="0" sz="14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Leader</a:t>
              </a:r>
              <a:endParaRPr b="1" i="0" sz="16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Priyanka P</a:t>
              </a:r>
              <a:endParaRPr b="0" i="0" sz="14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8" name="Google Shape;58;p13"/>
          <p:cNvGrpSpPr/>
          <p:nvPr/>
        </p:nvGrpSpPr>
        <p:grpSpPr>
          <a:xfrm>
            <a:off x="3238500" y="2476500"/>
            <a:ext cx="5524500" cy="2286000"/>
            <a:chOff x="0" y="0"/>
            <a:chExt cx="5524500" cy="2286000"/>
          </a:xfrm>
        </p:grpSpPr>
        <p:sp>
          <p:nvSpPr>
            <p:cNvPr id="59" name="Google Shape;59;p13"/>
            <p:cNvSpPr/>
            <p:nvPr/>
          </p:nvSpPr>
          <p:spPr>
            <a:xfrm>
              <a:off x="0" y="0"/>
              <a:ext cx="5524500" cy="2286000"/>
            </a:xfrm>
            <a:prstGeom prst="roundRect">
              <a:avLst>
                <a:gd fmla="val 5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3"/>
            <p:cNvSpPr txBox="1"/>
            <p:nvPr/>
          </p:nvSpPr>
          <p:spPr>
            <a:xfrm>
              <a:off x="0" y="0"/>
              <a:ext cx="5524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800" lIns="304800" spcFirstLastPara="1" rIns="304800" wrap="square" tIns="304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94A3B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  <a:endParaRPr b="1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F1F5F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Political rallies, festivals, sports events, construction activities, and sudden gatherings create localized traffic breakdowns.</a:t>
              </a:r>
              <a:endParaRPr b="0" i="0" sz="1400" u="none" cap="none" strike="noStrike">
                <a:solidFill>
                  <a:srgbClr val="F1F5F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1" name="Google Shape;61;p13"/>
          <p:cNvSpPr/>
          <p:nvPr/>
        </p:nvSpPr>
        <p:spPr>
          <a:xfrm>
            <a:off x="381000" y="228600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81000" y="33337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b="1" i="0" sz="32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381000" y="1123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14"/>
          <p:cNvGrpSpPr/>
          <p:nvPr/>
        </p:nvGrpSpPr>
        <p:grpSpPr>
          <a:xfrm>
            <a:off x="571500" y="1524000"/>
            <a:ext cx="3905400" cy="1428900"/>
            <a:chOff x="0" y="0"/>
            <a:chExt cx="3905400" cy="1428900"/>
          </a:xfrm>
        </p:grpSpPr>
        <p:sp>
          <p:nvSpPr>
            <p:cNvPr id="70" name="Google Shape;70;p14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0" y="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2563E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Leader</a:t>
              </a:r>
              <a:endParaRPr b="1" i="0" sz="1400" u="none" cap="none" strike="noStrike">
                <a:solidFill>
                  <a:srgbClr val="2563E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Priyanka P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Kumarasamy College of Engineering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4667250" y="1524000"/>
            <a:ext cx="3905400" cy="1428900"/>
            <a:chOff x="0" y="0"/>
            <a:chExt cx="3905400" cy="1428900"/>
          </a:xfrm>
        </p:grpSpPr>
        <p:sp>
          <p:nvSpPr>
            <p:cNvPr id="73" name="Google Shape;73;p14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0" y="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Member 1</a:t>
              </a:r>
              <a:endParaRPr b="1" i="0" sz="14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Kishore Karthikeyan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Kumarasamy College of Engineering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571500" y="3143250"/>
            <a:ext cx="3905400" cy="1428900"/>
            <a:chOff x="0" y="0"/>
            <a:chExt cx="3905400" cy="1428900"/>
          </a:xfrm>
        </p:grpSpPr>
        <p:sp>
          <p:nvSpPr>
            <p:cNvPr id="76" name="Google Shape;76;p14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0" y="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Member 2</a:t>
              </a:r>
              <a:endParaRPr b="1" i="0" sz="14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Harikrishna K S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Kumarasamy College of Engineering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8" name="Google Shape;78;p14"/>
          <p:cNvGrpSpPr/>
          <p:nvPr/>
        </p:nvGrpSpPr>
        <p:grpSpPr>
          <a:xfrm>
            <a:off x="4667250" y="3143250"/>
            <a:ext cx="3905400" cy="1428900"/>
            <a:chOff x="0" y="0"/>
            <a:chExt cx="3905400" cy="1428900"/>
          </a:xfrm>
        </p:grpSpPr>
        <p:sp>
          <p:nvSpPr>
            <p:cNvPr id="79" name="Google Shape;79;p14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0" y="0"/>
              <a:ext cx="3905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Team Member 3</a:t>
              </a:r>
              <a:endParaRPr b="1" i="0" sz="14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Lokesh Kumar S</a:t>
              </a:r>
              <a:endParaRPr b="1" i="0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Kumarasamy College of Engineering</a:t>
              </a:r>
              <a:endParaRPr b="0" i="0" sz="1100" u="none" cap="none" strike="noStrike">
                <a:solidFill>
                  <a:srgbClr val="64748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381000" y="742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81000" y="952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&amp; Unique Selling Proposition</a:t>
            </a:r>
            <a:endParaRPr b="1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" name="Google Shape;88;p15"/>
          <p:cNvGrpSpPr/>
          <p:nvPr/>
        </p:nvGrpSpPr>
        <p:grpSpPr>
          <a:xfrm>
            <a:off x="381000" y="1143000"/>
            <a:ext cx="4048200" cy="3619500"/>
            <a:chOff x="0" y="0"/>
            <a:chExt cx="4048200" cy="3619500"/>
          </a:xfrm>
        </p:grpSpPr>
        <p:sp>
          <p:nvSpPr>
            <p:cNvPr id="89" name="Google Shape;89;p15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0" y="0"/>
              <a:ext cx="40482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2563EB"/>
                  </a:solidFill>
                  <a:latin typeface="Mate"/>
                  <a:ea typeface="Mate"/>
                  <a:cs typeface="Mate"/>
                  <a:sym typeface="Mate"/>
                </a:rPr>
                <a:t>insights</a:t>
              </a:r>
              <a:r>
                <a:rPr b="1" i="0" lang="en" sz="1800" u="none" cap="none" strike="noStrike">
                  <a:solidFill>
                    <a:srgbClr val="2563E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Proactive Command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Flaw in Existing Tools</a:t>
              </a:r>
              <a:endParaRPr b="1" i="0" sz="14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Existing apps (like Google Maps) only show gridlock after it happens. We predict it beforehand.</a:t>
              </a:r>
              <a:endParaRPr b="0" i="0" sz="12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0F172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Command vs. Commuter</a:t>
              </a:r>
              <a:endParaRPr b="1" i="0" sz="14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Not just a navigation map our solution is a dedicated Digital Twin Command Grid built specifically for municipal traffic operators.</a:t>
              </a:r>
              <a:endParaRPr b="0" i="0" sz="12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1" name="Google Shape;91;p15"/>
          <p:cNvGrpSpPr/>
          <p:nvPr/>
        </p:nvGrpSpPr>
        <p:grpSpPr>
          <a:xfrm>
            <a:off x="4714875" y="1143000"/>
            <a:ext cx="4048200" cy="3619500"/>
            <a:chOff x="0" y="0"/>
            <a:chExt cx="4048200" cy="3619500"/>
          </a:xfrm>
        </p:grpSpPr>
        <p:sp>
          <p:nvSpPr>
            <p:cNvPr id="92" name="Google Shape;92;p15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3157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0" y="0"/>
              <a:ext cx="4048200" cy="36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85750" lIns="285750" spcFirstLastPara="1" rIns="285750" wrap="square" tIns="2857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60A5FA"/>
                  </a:solidFill>
                  <a:latin typeface="Mate"/>
                  <a:ea typeface="Mate"/>
                  <a:cs typeface="Mate"/>
                  <a:sym typeface="Mate"/>
                </a:rPr>
                <a:t>auto_awesome</a:t>
              </a:r>
              <a:r>
                <a:rPr b="1" i="0" lang="en" sz="1800" u="none" cap="none" strike="noStrike">
                  <a:solidFill>
                    <a:srgbClr val="60A5F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Unique Selling Proposition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1F5F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Explainable AI (XAI)</a:t>
              </a:r>
              <a:endParaRPr b="1" i="0" sz="1400" u="none" cap="none" strike="noStrike">
                <a:solidFill>
                  <a:srgbClr val="F1F5F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CBD5E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Eliminates the AI "black box." Uses the SHAP framework to show officers exactly why an AI decision was made.</a:t>
              </a:r>
              <a:endParaRPr b="0" i="0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F1F5F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Instant SOP Generation</a:t>
              </a:r>
              <a:endParaRPr b="1" i="0" sz="1400" u="none" cap="none" strike="noStrike">
                <a:solidFill>
                  <a:srgbClr val="F1F5F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CBD5E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 integrated Llama 3 model translates complex traffic data into plain-text, actionable steps for units on the ground.</a:t>
              </a:r>
              <a:endParaRPr b="0" i="0" sz="1200" u="none" cap="none" strike="noStrike">
                <a:solidFill>
                  <a:srgbClr val="CBD5E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381000" y="742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381000" y="952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Platform Features</a:t>
            </a:r>
            <a:endParaRPr b="1"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381000" y="1047750"/>
            <a:ext cx="8382000" cy="3619500"/>
            <a:chOff x="0" y="0"/>
            <a:chExt cx="8382000" cy="3619500"/>
          </a:xfrm>
        </p:grpSpPr>
        <p:grpSp>
          <p:nvGrpSpPr>
            <p:cNvPr id="102" name="Google Shape;102;p16"/>
            <p:cNvGrpSpPr/>
            <p:nvPr/>
          </p:nvGrpSpPr>
          <p:grpSpPr>
            <a:xfrm>
              <a:off x="0" y="0"/>
              <a:ext cx="2667000" cy="1714500"/>
              <a:chOff x="0" y="0"/>
              <a:chExt cx="2667000" cy="1714500"/>
            </a:xfrm>
          </p:grpSpPr>
          <p:sp>
            <p:nvSpPr>
              <p:cNvPr id="103" name="Google Shape;103;p16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6"/>
              <p:cNvSpPr txBox="1"/>
              <p:nvPr/>
            </p:nvSpPr>
            <p:spPr>
              <a:xfrm>
                <a:off x="0" y="0"/>
                <a:ext cx="2667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2563E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01. Predictive Sandbox</a:t>
                </a:r>
                <a:endParaRPr b="1" sz="1400">
                  <a:solidFill>
                    <a:srgbClr val="2563E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Simulates live vehicle and footfall surges based on ASTraM telemetry to forecast gridlock before it happens.</a:t>
                </a:r>
                <a:endParaRPr b="0" sz="11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5" name="Google Shape;105;p16"/>
            <p:cNvGrpSpPr/>
            <p:nvPr/>
          </p:nvGrpSpPr>
          <p:grpSpPr>
            <a:xfrm>
              <a:off x="2857500" y="0"/>
              <a:ext cx="2667000" cy="1714500"/>
              <a:chOff x="0" y="0"/>
              <a:chExt cx="2667000" cy="1714500"/>
            </a:xfrm>
          </p:grpSpPr>
          <p:sp>
            <p:nvSpPr>
              <p:cNvPr id="106" name="Google Shape;106;p16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0" y="0"/>
                <a:ext cx="2667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2563E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02. Priority Routing</a:t>
                </a:r>
                <a:endParaRPr b="1" sz="1400">
                  <a:solidFill>
                    <a:srgbClr val="2563E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Automatically maps tactical bypass corridors to keep mass transit moving during peak congestion.</a:t>
                </a:r>
                <a:endParaRPr b="0" sz="11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8" name="Google Shape;108;p16"/>
            <p:cNvGrpSpPr/>
            <p:nvPr/>
          </p:nvGrpSpPr>
          <p:grpSpPr>
            <a:xfrm>
              <a:off x="5715000" y="0"/>
              <a:ext cx="2667000" cy="1714500"/>
              <a:chOff x="0" y="0"/>
              <a:chExt cx="2667000" cy="1714500"/>
            </a:xfrm>
          </p:grpSpPr>
          <p:sp>
            <p:nvSpPr>
              <p:cNvPr id="109" name="Google Shape;109;p16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16"/>
              <p:cNvSpPr txBox="1"/>
              <p:nvPr/>
            </p:nvSpPr>
            <p:spPr>
              <a:xfrm>
                <a:off x="0" y="0"/>
                <a:ext cx="2667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2563E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03. Explainable AI</a:t>
                </a:r>
                <a:endParaRPr b="1" sz="1400">
                  <a:solidFill>
                    <a:srgbClr val="2563E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Uses SHAP metrics to transparently reveal exactly why a routing decision was made by the system.</a:t>
                </a:r>
                <a:endParaRPr b="0" sz="11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1" name="Google Shape;111;p16"/>
            <p:cNvGrpSpPr/>
            <p:nvPr/>
          </p:nvGrpSpPr>
          <p:grpSpPr>
            <a:xfrm>
              <a:off x="0" y="1905000"/>
              <a:ext cx="2667000" cy="1714500"/>
              <a:chOff x="0" y="0"/>
              <a:chExt cx="2667000" cy="1714500"/>
            </a:xfrm>
          </p:grpSpPr>
          <p:sp>
            <p:nvSpPr>
              <p:cNvPr id="112" name="Google Shape;112;p16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6"/>
              <p:cNvSpPr txBox="1"/>
              <p:nvPr/>
            </p:nvSpPr>
            <p:spPr>
              <a:xfrm>
                <a:off x="0" y="0"/>
                <a:ext cx="2667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2563EB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04. SOP Synthesis</a:t>
                </a:r>
                <a:endParaRPr b="1" sz="1400">
                  <a:solidFill>
                    <a:srgbClr val="2563EB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3415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Translates complex data into clear, step-by-step text commands for field officers on the ground.</a:t>
                </a:r>
                <a:endParaRPr b="0" sz="1100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4" name="Google Shape;114;p16"/>
            <p:cNvGrpSpPr/>
            <p:nvPr/>
          </p:nvGrpSpPr>
          <p:grpSpPr>
            <a:xfrm>
              <a:off x="2857500" y="1905000"/>
              <a:ext cx="2667000" cy="1714500"/>
              <a:chOff x="0" y="0"/>
              <a:chExt cx="2667000" cy="1714500"/>
            </a:xfrm>
          </p:grpSpPr>
          <p:sp>
            <p:nvSpPr>
              <p:cNvPr id="115" name="Google Shape;115;p16"/>
              <p:cNvSpPr/>
              <p:nvPr/>
            </p:nvSpPr>
            <p:spPr>
              <a:xfrm>
                <a:off x="0" y="0"/>
                <a:ext cx="2667000" cy="1714500"/>
              </a:xfrm>
              <a:prstGeom prst="roundRect">
                <a:avLst>
                  <a:gd fmla="val 6666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6"/>
              <p:cNvSpPr txBox="1"/>
              <p:nvPr/>
            </p:nvSpPr>
            <p:spPr>
              <a:xfrm>
                <a:off x="0" y="0"/>
                <a:ext cx="2667000" cy="171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60A5F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05. Hardened Security</a:t>
                </a:r>
                <a:endParaRPr b="1" sz="1400">
                  <a:solidFill>
                    <a:srgbClr val="60A5F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CBD5E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Municipal infrastructure with JWT auth, bcrypt hashing, and Pydantic-validated data schemas.</a:t>
                </a:r>
                <a:endParaRPr b="0" sz="1100">
                  <a:solidFill>
                    <a:srgbClr val="CBD5E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pic>
          <p:nvPicPr>
            <p:cNvPr id="117" name="Google Shape;117;p16"/>
            <p:cNvPicPr preferRelativeResize="0"/>
            <p:nvPr/>
          </p:nvPicPr>
          <p:blipFill rotWithShape="1">
            <a:blip r:embed="rId3">
              <a:alphaModFix/>
            </a:blip>
            <a:srcRect b="328" l="0" r="26313" t="328"/>
            <a:stretch/>
          </p:blipFill>
          <p:spPr>
            <a:xfrm>
              <a:off x="5238750" y="1905000"/>
              <a:ext cx="26670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381000" y="742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381000" y="952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Workflow &amp; Operational Execution</a:t>
            </a:r>
            <a:endParaRPr b="1"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 rotWithShape="1">
          <a:blip r:embed="rId4">
            <a:alphaModFix/>
          </a:blip>
          <a:srcRect b="5814" l="0" r="0" t="10777"/>
          <a:stretch/>
        </p:blipFill>
        <p:spPr>
          <a:xfrm>
            <a:off x="263100" y="1030251"/>
            <a:ext cx="433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 rotWithShape="1">
          <a:blip r:embed="rId5">
            <a:alphaModFix/>
          </a:blip>
          <a:srcRect b="8077" l="0" r="0" t="3552"/>
          <a:stretch/>
        </p:blipFill>
        <p:spPr>
          <a:xfrm>
            <a:off x="4822003" y="1030253"/>
            <a:ext cx="4095900" cy="3619500"/>
          </a:xfrm>
          <a:prstGeom prst="roundRect">
            <a:avLst>
              <a:gd fmla="val 3157" name="adj"/>
            </a:avLst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381000" y="4714875"/>
            <a:ext cx="4095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'RESILIO Platform User Workflow</a:t>
            </a:r>
            <a:endParaRPr b="1" i="0" sz="1100" u="none" cap="none" strike="noStrike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4667250" y="4714875"/>
            <a:ext cx="4095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Human-Approved Command Commissioner Loop</a:t>
            </a:r>
            <a:endParaRPr b="1" i="0" sz="1100">
              <a:solidFill>
                <a:srgbClr val="47556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381000" y="742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381000" y="95250"/>
            <a:ext cx="8382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INTERFACE</a:t>
            </a:r>
            <a:endParaRPr b="1" sz="2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6" name="Google Shape;136;p18"/>
          <p:cNvGrpSpPr/>
          <p:nvPr/>
        </p:nvGrpSpPr>
        <p:grpSpPr>
          <a:xfrm>
            <a:off x="381000" y="1047750"/>
            <a:ext cx="4048200" cy="3619500"/>
            <a:chOff x="0" y="0"/>
            <a:chExt cx="4048200" cy="3619500"/>
          </a:xfrm>
        </p:grpSpPr>
        <p:sp>
          <p:nvSpPr>
            <p:cNvPr id="137" name="Google Shape;137;p18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8" name="Google Shape;138;p18"/>
            <p:cNvPicPr preferRelativeResize="0"/>
            <p:nvPr/>
          </p:nvPicPr>
          <p:blipFill rotWithShape="1">
            <a:blip r:embed="rId4">
              <a:alphaModFix/>
            </a:blip>
            <a:srcRect b="0" l="20225" r="20219" t="0"/>
            <a:stretch/>
          </p:blipFill>
          <p:spPr>
            <a:xfrm>
              <a:off x="95250" y="95250"/>
              <a:ext cx="3857700" cy="3048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  <p:sp>
          <p:nvSpPr>
            <p:cNvPr id="139" name="Google Shape;139;p18"/>
            <p:cNvSpPr txBox="1"/>
            <p:nvPr/>
          </p:nvSpPr>
          <p:spPr>
            <a:xfrm>
              <a:off x="0" y="3190875"/>
              <a:ext cx="40482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Initial Concept &amp; Command Interface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4714875" y="1047750"/>
            <a:ext cx="4048200" cy="3619500"/>
            <a:chOff x="0" y="0"/>
            <a:chExt cx="4048200" cy="3619500"/>
          </a:xfrm>
        </p:grpSpPr>
        <p:sp>
          <p:nvSpPr>
            <p:cNvPr id="141" name="Google Shape;141;p18"/>
            <p:cNvSpPr/>
            <p:nvPr/>
          </p:nvSpPr>
          <p:spPr>
            <a:xfrm>
              <a:off x="0" y="0"/>
              <a:ext cx="40482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2" name="Google Shape;142;p18"/>
            <p:cNvPicPr preferRelativeResize="0"/>
            <p:nvPr/>
          </p:nvPicPr>
          <p:blipFill rotWithShape="1">
            <a:blip r:embed="rId5">
              <a:alphaModFix/>
            </a:blip>
            <a:srcRect b="0" l="19791" r="19797" t="0"/>
            <a:stretch/>
          </p:blipFill>
          <p:spPr>
            <a:xfrm>
              <a:off x="95250" y="95250"/>
              <a:ext cx="3857700" cy="3048000"/>
            </a:xfrm>
            <a:prstGeom prst="roundRect">
              <a:avLst>
                <a:gd fmla="val 2500" name="adj"/>
              </a:avLst>
            </a:prstGeom>
            <a:noFill/>
            <a:ln>
              <a:noFill/>
            </a:ln>
          </p:spPr>
        </p:pic>
        <p:sp>
          <p:nvSpPr>
            <p:cNvPr id="143" name="Google Shape;143;p18"/>
            <p:cNvSpPr txBox="1"/>
            <p:nvPr/>
          </p:nvSpPr>
          <p:spPr>
            <a:xfrm>
              <a:off x="0" y="3190875"/>
              <a:ext cx="40482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Real-time Node Visualization &amp; Live Tracking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9"/>
          <p:cNvGrpSpPr/>
          <p:nvPr/>
        </p:nvGrpSpPr>
        <p:grpSpPr>
          <a:xfrm>
            <a:off x="2457450" y="1905000"/>
            <a:ext cx="4229250" cy="1428750"/>
            <a:chOff x="2457450" y="1905000"/>
            <a:chExt cx="4229250" cy="1428750"/>
          </a:xfrm>
        </p:grpSpPr>
        <p:pic>
          <p:nvPicPr>
            <p:cNvPr id="149" name="Google Shape;149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05325" y="1905000"/>
              <a:ext cx="1335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457450" y="2952750"/>
              <a:ext cx="133500" cy="381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553200" y="2952750"/>
              <a:ext cx="1335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19"/>
          <p:cNvSpPr txBox="1"/>
          <p:nvPr/>
        </p:nvSpPr>
        <p:spPr>
          <a:xfrm>
            <a:off x="0" y="-150"/>
            <a:ext cx="9144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 Diagram</a:t>
            </a:r>
            <a:endParaRPr b="1" i="0" sz="3600" u="none" cap="none" strike="noStrike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3" name="Google Shape;153;p19"/>
          <p:cNvGrpSpPr/>
          <p:nvPr/>
        </p:nvGrpSpPr>
        <p:grpSpPr>
          <a:xfrm>
            <a:off x="571500" y="1047750"/>
            <a:ext cx="8001000" cy="857400"/>
            <a:chOff x="0" y="0"/>
            <a:chExt cx="8001000" cy="857400"/>
          </a:xfrm>
        </p:grpSpPr>
        <p:sp>
          <p:nvSpPr>
            <p:cNvPr id="154" name="Google Shape;154;p19"/>
            <p:cNvSpPr/>
            <p:nvPr/>
          </p:nvSpPr>
          <p:spPr>
            <a:xfrm>
              <a:off x="0" y="0"/>
              <a:ext cx="8001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190500" y="95250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1D4ED8"/>
                  </a:solidFill>
                  <a:latin typeface="Arial"/>
                  <a:ea typeface="Arial"/>
                  <a:cs typeface="Arial"/>
                  <a:sym typeface="Arial"/>
                </a:rPr>
                <a:t>Client / Frontend Tier</a:t>
              </a:r>
              <a:endParaRPr b="1" i="0" sz="1400" u="none" cap="none" strike="noStrike">
                <a:solidFill>
                  <a:srgbClr val="1D4ED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" name="Google Shape;156;p19"/>
            <p:cNvGrpSpPr/>
            <p:nvPr/>
          </p:nvGrpSpPr>
          <p:grpSpPr>
            <a:xfrm>
              <a:off x="1905000" y="142875"/>
              <a:ext cx="1714500" cy="571500"/>
              <a:chOff x="0" y="0"/>
              <a:chExt cx="1714500" cy="571500"/>
            </a:xfrm>
          </p:grpSpPr>
          <p:sp>
            <p:nvSpPr>
              <p:cNvPr id="157" name="Google Shape;157;p19"/>
              <p:cNvSpPr/>
              <p:nvPr/>
            </p:nvSpPr>
            <p:spPr>
              <a:xfrm>
                <a:off x="0" y="0"/>
                <a:ext cx="1714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93C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9"/>
              <p:cNvSpPr txBox="1"/>
              <p:nvPr/>
            </p:nvSpPr>
            <p:spPr>
              <a:xfrm>
                <a:off x="0" y="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100" u="none" cap="none" strike="noStrike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React</a:t>
                </a:r>
                <a:endParaRPr b="1" i="0" sz="11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(Web Application)</a:t>
                </a:r>
                <a:endParaRPr b="0" i="0" sz="9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" name="Google Shape;159;p19"/>
            <p:cNvGrpSpPr/>
            <p:nvPr/>
          </p:nvGrpSpPr>
          <p:grpSpPr>
            <a:xfrm>
              <a:off x="3810000" y="142875"/>
              <a:ext cx="1714500" cy="571500"/>
              <a:chOff x="0" y="0"/>
              <a:chExt cx="1714500" cy="571500"/>
            </a:xfrm>
          </p:grpSpPr>
          <p:sp>
            <p:nvSpPr>
              <p:cNvPr id="160" name="Google Shape;160;p19"/>
              <p:cNvSpPr/>
              <p:nvPr/>
            </p:nvSpPr>
            <p:spPr>
              <a:xfrm>
                <a:off x="0" y="0"/>
                <a:ext cx="1714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93C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9"/>
              <p:cNvSpPr txBox="1"/>
              <p:nvPr/>
            </p:nvSpPr>
            <p:spPr>
              <a:xfrm>
                <a:off x="0" y="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100" u="none" cap="none" strike="noStrike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Deck.gl</a:t>
                </a:r>
                <a:endParaRPr b="1" i="0" sz="11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(Data Visualization)</a:t>
                </a:r>
                <a:endParaRPr b="0" i="0" sz="9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" name="Google Shape;162;p19"/>
            <p:cNvGrpSpPr/>
            <p:nvPr/>
          </p:nvGrpSpPr>
          <p:grpSpPr>
            <a:xfrm>
              <a:off x="5715000" y="142875"/>
              <a:ext cx="1714500" cy="571500"/>
              <a:chOff x="0" y="0"/>
              <a:chExt cx="1714500" cy="571500"/>
            </a:xfrm>
          </p:grpSpPr>
          <p:sp>
            <p:nvSpPr>
              <p:cNvPr id="163" name="Google Shape;163;p19"/>
              <p:cNvSpPr/>
              <p:nvPr/>
            </p:nvSpPr>
            <p:spPr>
              <a:xfrm>
                <a:off x="0" y="0"/>
                <a:ext cx="1714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EFF6FF"/>
              </a:solidFill>
              <a:ln cap="flat" cmpd="sng" w="9525">
                <a:solidFill>
                  <a:srgbClr val="93C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19"/>
              <p:cNvSpPr txBox="1"/>
              <p:nvPr/>
            </p:nvSpPr>
            <p:spPr>
              <a:xfrm>
                <a:off x="0" y="0"/>
                <a:ext cx="1714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100" u="none" cap="none" strike="noStrike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MapLibre</a:t>
                </a:r>
                <a:endParaRPr b="1" i="0" sz="11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1E3A8A"/>
                    </a:solidFill>
                    <a:latin typeface="Arial"/>
                    <a:ea typeface="Arial"/>
                    <a:cs typeface="Arial"/>
                    <a:sym typeface="Arial"/>
                  </a:rPr>
                  <a:t>(Interactive Maps)</a:t>
                </a:r>
                <a:endParaRPr b="0" i="0" sz="900" u="none" cap="none" strike="noStrike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5" name="Google Shape;165;p19"/>
          <p:cNvGrpSpPr/>
          <p:nvPr/>
        </p:nvGrpSpPr>
        <p:grpSpPr>
          <a:xfrm>
            <a:off x="571500" y="2095500"/>
            <a:ext cx="8001000" cy="857400"/>
            <a:chOff x="0" y="0"/>
            <a:chExt cx="8001000" cy="857400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8001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1905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190500" y="95250"/>
              <a:ext cx="1524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" sz="1400" u="none" cap="none" strike="noStrike">
                  <a:solidFill>
                    <a:srgbClr val="BE123C"/>
                  </a:solidFill>
                  <a:latin typeface="Arial"/>
                  <a:ea typeface="Arial"/>
                  <a:cs typeface="Arial"/>
                  <a:sym typeface="Arial"/>
                </a:rPr>
                <a:t>Server / Backend Tier</a:t>
              </a:r>
              <a:endParaRPr b="1" i="0" sz="1400" u="none" cap="none" strike="noStrike">
                <a:solidFill>
                  <a:srgbClr val="BE123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p19"/>
            <p:cNvGrpSpPr/>
            <p:nvPr/>
          </p:nvGrpSpPr>
          <p:grpSpPr>
            <a:xfrm>
              <a:off x="1905000" y="142875"/>
              <a:ext cx="2857500" cy="571500"/>
              <a:chOff x="0" y="0"/>
              <a:chExt cx="2857500" cy="571500"/>
            </a:xfrm>
          </p:grpSpPr>
          <p:sp>
            <p:nvSpPr>
              <p:cNvPr id="169" name="Google Shape;169;p19"/>
              <p:cNvSpPr/>
              <p:nvPr/>
            </p:nvSpPr>
            <p:spPr>
              <a:xfrm>
                <a:off x="0" y="0"/>
                <a:ext cx="2857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DA4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9"/>
              <p:cNvSpPr txBox="1"/>
              <p:nvPr/>
            </p:nvSpPr>
            <p:spPr>
              <a:xfrm>
                <a:off x="0" y="0"/>
                <a:ext cx="2857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100" u="none" cap="none" strike="noStrike">
                    <a:solidFill>
                      <a:srgbClr val="881337"/>
                    </a:solidFill>
                    <a:latin typeface="Arial"/>
                    <a:ea typeface="Arial"/>
                    <a:cs typeface="Arial"/>
                    <a:sym typeface="Arial"/>
                  </a:rPr>
                  <a:t>FastAPI</a:t>
                </a:r>
                <a:endParaRPr b="1" i="0" sz="1100" u="none" cap="none" strike="noStrike">
                  <a:solidFill>
                    <a:srgbClr val="88133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881337"/>
                    </a:solidFill>
                    <a:latin typeface="Arial"/>
                    <a:ea typeface="Arial"/>
                    <a:cs typeface="Arial"/>
                    <a:sym typeface="Arial"/>
                  </a:rPr>
                  <a:t>(REST API &amp; Services)</a:t>
                </a:r>
                <a:endParaRPr b="0" i="0" sz="900" u="none" cap="none" strike="noStrike">
                  <a:solidFill>
                    <a:srgbClr val="88133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1" name="Google Shape;171;p19"/>
            <p:cNvGrpSpPr/>
            <p:nvPr/>
          </p:nvGrpSpPr>
          <p:grpSpPr>
            <a:xfrm>
              <a:off x="4953000" y="142875"/>
              <a:ext cx="2857500" cy="571500"/>
              <a:chOff x="0" y="0"/>
              <a:chExt cx="2857500" cy="571500"/>
            </a:xfrm>
          </p:grpSpPr>
          <p:sp>
            <p:nvSpPr>
              <p:cNvPr id="172" name="Google Shape;172;p19"/>
              <p:cNvSpPr/>
              <p:nvPr/>
            </p:nvSpPr>
            <p:spPr>
              <a:xfrm>
                <a:off x="0" y="0"/>
                <a:ext cx="2857500" cy="571500"/>
              </a:xfrm>
              <a:prstGeom prst="roundRect">
                <a:avLst>
                  <a:gd fmla="val 10000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DA4A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19"/>
              <p:cNvSpPr txBox="1"/>
              <p:nvPr/>
            </p:nvSpPr>
            <p:spPr>
              <a:xfrm>
                <a:off x="0" y="0"/>
                <a:ext cx="2857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" sz="1100" u="none" cap="none" strike="noStrike">
                    <a:solidFill>
                      <a:srgbClr val="881337"/>
                    </a:solidFill>
                    <a:latin typeface="Arial"/>
                    <a:ea typeface="Arial"/>
                    <a:cs typeface="Arial"/>
                    <a:sym typeface="Arial"/>
                  </a:rPr>
                  <a:t>SQLAlchemy ORM</a:t>
                </a:r>
                <a:endParaRPr b="1" i="0" sz="1100" u="none" cap="none" strike="noStrike">
                  <a:solidFill>
                    <a:srgbClr val="88133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r>
                  <a:rPr b="0" i="0" lang="en" sz="900" u="none" cap="none" strike="noStrike">
                    <a:solidFill>
                      <a:srgbClr val="881337"/>
                    </a:solidFill>
                    <a:latin typeface="Arial"/>
                    <a:ea typeface="Arial"/>
                    <a:cs typeface="Arial"/>
                    <a:sym typeface="Arial"/>
                  </a:rPr>
                  <a:t>(Data Access Layer)</a:t>
                </a:r>
                <a:endParaRPr b="0" i="0" sz="900" u="none" cap="none" strike="noStrike">
                  <a:solidFill>
                    <a:srgbClr val="881337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4" name="Google Shape;174;p19"/>
          <p:cNvGrpSpPr/>
          <p:nvPr/>
        </p:nvGrpSpPr>
        <p:grpSpPr>
          <a:xfrm>
            <a:off x="571500" y="3143250"/>
            <a:ext cx="3905400" cy="1428900"/>
            <a:chOff x="0" y="0"/>
            <a:chExt cx="3905400" cy="1428900"/>
          </a:xfrm>
        </p:grpSpPr>
        <p:sp>
          <p:nvSpPr>
            <p:cNvPr id="175" name="Google Shape;175;p19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9050">
              <a:solidFill>
                <a:srgbClr val="8B5C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142875" y="9525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5B21B6"/>
                  </a:solidFill>
                  <a:latin typeface="Arial"/>
                  <a:ea typeface="Arial"/>
                  <a:cs typeface="Arial"/>
                  <a:sym typeface="Arial"/>
                </a:rPr>
                <a:t>AI &amp; Machine Learning Engine</a:t>
              </a:r>
              <a:endParaRPr b="1" i="0" sz="1300" u="none" cap="none" strike="noStrike">
                <a:solidFill>
                  <a:srgbClr val="5B21B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7" name="Google Shape;177;p19"/>
            <p:cNvGrpSpPr/>
            <p:nvPr/>
          </p:nvGrpSpPr>
          <p:grpSpPr>
            <a:xfrm>
              <a:off x="142875" y="476250"/>
              <a:ext cx="1095300" cy="809700"/>
              <a:chOff x="0" y="0"/>
              <a:chExt cx="1095300" cy="809700"/>
            </a:xfrm>
          </p:grpSpPr>
          <p:sp>
            <p:nvSpPr>
              <p:cNvPr id="178" name="Google Shape;178;p19"/>
              <p:cNvSpPr/>
              <p:nvPr/>
            </p:nvSpPr>
            <p:spPr>
              <a:xfrm>
                <a:off x="0" y="0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5F3FF"/>
              </a:solidFill>
              <a:ln cap="flat" cmpd="sng" w="9525">
                <a:solidFill>
                  <a:srgbClr val="C4B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19"/>
              <p:cNvSpPr txBox="1"/>
              <p:nvPr/>
            </p:nvSpPr>
            <p:spPr>
              <a:xfrm>
                <a:off x="0" y="0"/>
                <a:ext cx="10953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LightGBM</a:t>
                </a:r>
                <a:endParaRPr b="1" i="0" sz="1000" u="none" cap="none" strike="noStrike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Traffic Models</a:t>
                </a:r>
                <a:endParaRPr b="0" i="0" sz="800" u="none" cap="none" strike="noStrike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0" name="Google Shape;180;p19"/>
            <p:cNvGrpSpPr/>
            <p:nvPr/>
          </p:nvGrpSpPr>
          <p:grpSpPr>
            <a:xfrm>
              <a:off x="1400175" y="476250"/>
              <a:ext cx="1095300" cy="809700"/>
              <a:chOff x="0" y="0"/>
              <a:chExt cx="1095300" cy="809700"/>
            </a:xfrm>
          </p:grpSpPr>
          <p:sp>
            <p:nvSpPr>
              <p:cNvPr id="181" name="Google Shape;181;p19"/>
              <p:cNvSpPr/>
              <p:nvPr/>
            </p:nvSpPr>
            <p:spPr>
              <a:xfrm>
                <a:off x="0" y="0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5F3FF"/>
              </a:solidFill>
              <a:ln cap="flat" cmpd="sng" w="9525">
                <a:solidFill>
                  <a:srgbClr val="C4B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19"/>
              <p:cNvSpPr txBox="1"/>
              <p:nvPr/>
            </p:nvSpPr>
            <p:spPr>
              <a:xfrm>
                <a:off x="0" y="0"/>
                <a:ext cx="10953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SHAP Maps</a:t>
                </a:r>
                <a:endParaRPr b="1" i="0" sz="1000" u="none" cap="none" strike="noStrike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Explainability</a:t>
                </a:r>
                <a:endParaRPr b="0" i="0" sz="800" u="none" cap="none" strike="noStrike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19"/>
            <p:cNvGrpSpPr/>
            <p:nvPr/>
          </p:nvGrpSpPr>
          <p:grpSpPr>
            <a:xfrm>
              <a:off x="2667000" y="476250"/>
              <a:ext cx="1095300" cy="809700"/>
              <a:chOff x="0" y="0"/>
              <a:chExt cx="1095300" cy="809700"/>
            </a:xfrm>
          </p:grpSpPr>
          <p:sp>
            <p:nvSpPr>
              <p:cNvPr id="184" name="Google Shape;184;p19"/>
              <p:cNvSpPr/>
              <p:nvPr/>
            </p:nvSpPr>
            <p:spPr>
              <a:xfrm>
                <a:off x="0" y="0"/>
                <a:ext cx="1095300" cy="809700"/>
              </a:xfrm>
              <a:prstGeom prst="roundRect">
                <a:avLst>
                  <a:gd fmla="val 7058" name="adj"/>
                </a:avLst>
              </a:prstGeom>
              <a:solidFill>
                <a:srgbClr val="F5F3FF"/>
              </a:solidFill>
              <a:ln cap="flat" cmpd="sng" w="9525">
                <a:solidFill>
                  <a:srgbClr val="C4B5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19"/>
              <p:cNvSpPr txBox="1"/>
              <p:nvPr/>
            </p:nvSpPr>
            <p:spPr>
              <a:xfrm>
                <a:off x="0" y="0"/>
                <a:ext cx="10953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8100" lIns="38100" spcFirstLastPara="1" rIns="38100" wrap="square" tIns="381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" sz="1000" u="none" cap="none" strike="noStrike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Llama 3 SOP</a:t>
                </a:r>
                <a:endParaRPr b="1" i="0" sz="1000" u="none" cap="none" strike="noStrike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" sz="800" u="none" cap="none" strike="noStrike">
                    <a:solidFill>
                      <a:srgbClr val="4C1D95"/>
                    </a:solidFill>
                    <a:latin typeface="Arial"/>
                    <a:ea typeface="Arial"/>
                    <a:cs typeface="Arial"/>
                    <a:sym typeface="Arial"/>
                  </a:rPr>
                  <a:t>Traffic SOPs</a:t>
                </a:r>
                <a:endParaRPr b="0" i="0" sz="800" u="none" cap="none" strike="noStrike">
                  <a:solidFill>
                    <a:srgbClr val="4C1D9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6" name="Google Shape;186;p19"/>
          <p:cNvGrpSpPr/>
          <p:nvPr/>
        </p:nvGrpSpPr>
        <p:grpSpPr>
          <a:xfrm>
            <a:off x="4667250" y="3143250"/>
            <a:ext cx="3905400" cy="1428900"/>
            <a:chOff x="0" y="0"/>
            <a:chExt cx="3905400" cy="1428900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142875" y="9525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rPr>
                <a:t>Data Storage Tier</a:t>
              </a:r>
              <a:endParaRPr b="1" i="0" sz="1300" u="none" cap="none" strike="noStrike">
                <a:solidFill>
                  <a:srgbClr val="15803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" name="Google Shape;189;p19"/>
            <p:cNvGrpSpPr/>
            <p:nvPr/>
          </p:nvGrpSpPr>
          <p:grpSpPr>
            <a:xfrm>
              <a:off x="523875" y="571500"/>
              <a:ext cx="2857500" cy="666900"/>
              <a:chOff x="0" y="0"/>
              <a:chExt cx="2857500" cy="666900"/>
            </a:xfrm>
          </p:grpSpPr>
          <p:sp>
            <p:nvSpPr>
              <p:cNvPr id="190" name="Google Shape;190;p19"/>
              <p:cNvSpPr/>
              <p:nvPr/>
            </p:nvSpPr>
            <p:spPr>
              <a:xfrm>
                <a:off x="0" y="0"/>
                <a:ext cx="2857500" cy="666900"/>
              </a:xfrm>
              <a:prstGeom prst="roundRect">
                <a:avLst>
                  <a:gd fmla="val 8571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86EFA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9"/>
              <p:cNvSpPr txBox="1"/>
              <p:nvPr/>
            </p:nvSpPr>
            <p:spPr>
              <a:xfrm>
                <a:off x="0" y="0"/>
                <a:ext cx="28575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1" i="0" lang="en" sz="1200" u="none" cap="none" strike="noStrike">
                    <a:solidFill>
                      <a:srgbClr val="14532D"/>
                    </a:solidFill>
                    <a:latin typeface="Arial"/>
                    <a:ea typeface="Arial"/>
                    <a:cs typeface="Arial"/>
                    <a:sym typeface="Arial"/>
                  </a:rPr>
                  <a:t>SQLite Local DB</a:t>
                </a:r>
                <a:endParaRPr b="1" i="0" sz="1200" u="none" cap="none" strike="noStrike">
                  <a:solidFill>
                    <a:srgbClr val="14532D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81000" y="742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381000" y="95250"/>
            <a:ext cx="8382000" cy="571500"/>
            <a:chOff x="0" y="0"/>
            <a:chExt cx="8382000" cy="571500"/>
          </a:xfrm>
        </p:grpSpPr>
        <p:sp>
          <p:nvSpPr>
            <p:cNvPr id="199" name="Google Shape;199;p20"/>
            <p:cNvSpPr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0"/>
            <p:cNvSpPr txBox="1"/>
            <p:nvPr/>
          </p:nvSpPr>
          <p:spPr>
            <a:xfrm>
              <a:off x="0" y="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1" i="0" lang="en" sz="280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TECHNOLOGIES USED</a:t>
              </a:r>
              <a:endParaRPr b="1" i="0" sz="2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20"/>
          <p:cNvGrpSpPr/>
          <p:nvPr/>
        </p:nvGrpSpPr>
        <p:grpSpPr>
          <a:xfrm>
            <a:off x="381000" y="1047750"/>
            <a:ext cx="2667000" cy="1143000"/>
            <a:chOff x="0" y="0"/>
            <a:chExt cx="2667000" cy="1143000"/>
          </a:xfrm>
        </p:grpSpPr>
        <p:sp>
          <p:nvSpPr>
            <p:cNvPr id="202" name="Google Shape;202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Frontend UI</a:t>
              </a:r>
              <a:endParaRPr b="1" sz="12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06" name="Google Shape;206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React 18 &amp; Tailwind CSS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Fast, responsive component building.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>
            <a:off x="3238500" y="1047750"/>
            <a:ext cx="2667000" cy="1143000"/>
            <a:chOff x="0" y="0"/>
            <a:chExt cx="2667000" cy="1143000"/>
          </a:xfrm>
        </p:grpSpPr>
        <p:sp>
          <p:nvSpPr>
            <p:cNvPr id="208" name="Google Shape;208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Geospatial UI</a:t>
              </a:r>
              <a:endParaRPr b="1" sz="12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563EB"/>
                  </a:solidFill>
                  <a:latin typeface="Inter"/>
                  <a:ea typeface="Inter"/>
                  <a:cs typeface="Inter"/>
                  <a:sym typeface="Inter"/>
                </a:rPr>
                <a:t>Deck.gl &amp; MapLibre GL</a:t>
              </a:r>
              <a:endParaRPr b="1" sz="1100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Zero-latency large map rendering.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3" name="Google Shape;213;p20"/>
          <p:cNvGrpSpPr/>
          <p:nvPr/>
        </p:nvGrpSpPr>
        <p:grpSpPr>
          <a:xfrm>
            <a:off x="6096000" y="1047750"/>
            <a:ext cx="2667000" cy="1143000"/>
            <a:chOff x="0" y="0"/>
            <a:chExt cx="2667000" cy="1143000"/>
          </a:xfrm>
        </p:grpSpPr>
        <p:sp>
          <p:nvSpPr>
            <p:cNvPr id="214" name="Google Shape;214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FFF1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FFF1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F1239"/>
                  </a:solidFill>
                  <a:latin typeface="Inter"/>
                  <a:ea typeface="Inter"/>
                  <a:cs typeface="Inter"/>
                  <a:sym typeface="Inter"/>
                </a:rPr>
                <a:t>Backend &amp; Security</a:t>
              </a:r>
              <a:endParaRPr b="1" sz="1200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18" name="Google Shape;218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E11D48"/>
                  </a:solidFill>
                  <a:latin typeface="Inter"/>
                  <a:ea typeface="Inter"/>
                  <a:cs typeface="Inter"/>
                  <a:sym typeface="Inter"/>
                </a:rPr>
                <a:t>FastAPI, JWT, Bcrypt, Pydantic</a:t>
              </a:r>
              <a:endParaRPr b="1" sz="1100">
                <a:solidFill>
                  <a:srgbClr val="E11D4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Secure stateless auth &amp; processing.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9" name="Google Shape;219;p20"/>
          <p:cNvGrpSpPr/>
          <p:nvPr/>
        </p:nvGrpSpPr>
        <p:grpSpPr>
          <a:xfrm>
            <a:off x="381000" y="2381250"/>
            <a:ext cx="2667000" cy="1143000"/>
            <a:chOff x="0" y="0"/>
            <a:chExt cx="2667000" cy="1143000"/>
          </a:xfrm>
        </p:grpSpPr>
        <p:sp>
          <p:nvSpPr>
            <p:cNvPr id="220" name="Google Shape;220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Database</a:t>
              </a:r>
              <a:endParaRPr b="1" sz="12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SQLite / PostGIS</a:t>
              </a:r>
              <a:endParaRPr b="1" sz="11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Scalable geospatial data storage.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5" name="Google Shape;225;p20"/>
          <p:cNvGrpSpPr/>
          <p:nvPr/>
        </p:nvGrpSpPr>
        <p:grpSpPr>
          <a:xfrm>
            <a:off x="3238500" y="2381250"/>
            <a:ext cx="2667000" cy="1143000"/>
            <a:chOff x="0" y="0"/>
            <a:chExt cx="2667000" cy="1143000"/>
          </a:xfrm>
        </p:grpSpPr>
        <p:sp>
          <p:nvSpPr>
            <p:cNvPr id="226" name="Google Shape;226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B21B6"/>
                  </a:solidFill>
                  <a:latin typeface="Inter"/>
                  <a:ea typeface="Inter"/>
                  <a:cs typeface="Inter"/>
                  <a:sym typeface="Inter"/>
                </a:rPr>
                <a:t>Predictive AI</a:t>
              </a:r>
              <a:endParaRPr b="1" sz="1200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LightGBM Regressor</a:t>
              </a:r>
              <a:endParaRPr b="1" sz="11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High-speed CPU-based ETA predictions.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1" name="Google Shape;231;p20"/>
          <p:cNvGrpSpPr/>
          <p:nvPr/>
        </p:nvGrpSpPr>
        <p:grpSpPr>
          <a:xfrm>
            <a:off x="6096000" y="2381250"/>
            <a:ext cx="2667000" cy="1143000"/>
            <a:chOff x="0" y="0"/>
            <a:chExt cx="2667000" cy="1143000"/>
          </a:xfrm>
        </p:grpSpPr>
        <p:sp>
          <p:nvSpPr>
            <p:cNvPr id="232" name="Google Shape;232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B21B6"/>
                  </a:solidFill>
                  <a:latin typeface="Inter"/>
                  <a:ea typeface="Inter"/>
                  <a:cs typeface="Inter"/>
                  <a:sym typeface="Inter"/>
                </a:rPr>
                <a:t>Explainable AI</a:t>
              </a:r>
              <a:endParaRPr b="1" sz="1200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SHAP Framework</a:t>
              </a:r>
              <a:endParaRPr b="1" sz="11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Transparent feature weight extraction.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20"/>
          <p:cNvGrpSpPr/>
          <p:nvPr/>
        </p:nvGrpSpPr>
        <p:grpSpPr>
          <a:xfrm>
            <a:off x="3238500" y="3714750"/>
            <a:ext cx="2667000" cy="1143000"/>
            <a:chOff x="0" y="0"/>
            <a:chExt cx="2667000" cy="1143000"/>
          </a:xfrm>
        </p:grpSpPr>
        <p:sp>
          <p:nvSpPr>
            <p:cNvPr id="238" name="Google Shape;238;p20"/>
            <p:cNvSpPr/>
            <p:nvPr/>
          </p:nvSpPr>
          <p:spPr>
            <a:xfrm>
              <a:off x="0" y="0"/>
              <a:ext cx="26670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0"/>
            <p:cNvSpPr/>
            <p:nvPr/>
          </p:nvSpPr>
          <p:spPr>
            <a:xfrm>
              <a:off x="0" y="0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/>
            <p:nvPr/>
          </p:nvSpPr>
          <p:spPr>
            <a:xfrm>
              <a:off x="0" y="190500"/>
              <a:ext cx="2667000" cy="190500"/>
            </a:xfrm>
            <a:prstGeom prst="rect">
              <a:avLst/>
            </a:prstGeom>
            <a:solidFill>
              <a:srgbClr val="F5F3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0"/>
            <p:cNvSpPr txBox="1"/>
            <p:nvPr/>
          </p:nvSpPr>
          <p:spPr>
            <a:xfrm>
              <a:off x="0" y="0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5B21B6"/>
                  </a:solidFill>
                  <a:latin typeface="Inter"/>
                  <a:ea typeface="Inter"/>
                  <a:cs typeface="Inter"/>
                  <a:sym typeface="Inter"/>
                </a:rPr>
                <a:t>Generative AI</a:t>
              </a:r>
              <a:endParaRPr b="1" sz="1200">
                <a:solidFill>
                  <a:srgbClr val="5B21B6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20"/>
            <p:cNvSpPr txBox="1"/>
            <p:nvPr/>
          </p:nvSpPr>
          <p:spPr>
            <a:xfrm>
              <a:off x="142875" y="47625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Llama 3 (Local LLM)</a:t>
              </a:r>
              <a:endParaRPr b="1" sz="11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0" i="1" lang="en" sz="10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Instant plain-text SOP generation.</a:t>
              </a:r>
              <a:endParaRPr b="0" i="1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381000" y="742950"/>
            <a:ext cx="8382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381000" y="952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ESTIMATED IMPLEMENTATION COST</a:t>
            </a:r>
            <a:endParaRPr b="1" i="0" sz="28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50" name="Google Shape;250;p21"/>
          <p:cNvGrpSpPr/>
          <p:nvPr/>
        </p:nvGrpSpPr>
        <p:grpSpPr>
          <a:xfrm>
            <a:off x="381000" y="1143000"/>
            <a:ext cx="4048200" cy="3429000"/>
            <a:chOff x="0" y="0"/>
            <a:chExt cx="4048200" cy="3429000"/>
          </a:xfrm>
        </p:grpSpPr>
        <p:sp>
          <p:nvSpPr>
            <p:cNvPr id="251" name="Google Shape;251;p21"/>
            <p:cNvSpPr/>
            <p:nvPr/>
          </p:nvSpPr>
          <p:spPr>
            <a:xfrm>
              <a:off x="0" y="0"/>
              <a:ext cx="4048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0" y="0"/>
              <a:ext cx="4048200" cy="571500"/>
            </a:xfrm>
            <a:prstGeom prst="roundRect">
              <a:avLst>
                <a:gd fmla="val 20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0" y="285750"/>
              <a:ext cx="4048200" cy="285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1"/>
            <p:cNvSpPr txBox="1"/>
            <p:nvPr/>
          </p:nvSpPr>
          <p:spPr>
            <a:xfrm>
              <a:off x="0" y="0"/>
              <a:ext cx="404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1E293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Legacy Enterprise Stack</a:t>
              </a:r>
              <a:endParaRPr b="1" i="0" sz="1800" u="none" cap="none" strike="noStrike">
                <a:solidFill>
                  <a:srgbClr val="1E293B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5" name="Google Shape;255;p21"/>
            <p:cNvSpPr txBox="1"/>
            <p:nvPr/>
          </p:nvSpPr>
          <p:spPr>
            <a:xfrm>
              <a:off x="190500" y="666750"/>
              <a:ext cx="3667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1" lang="en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(The high-cost, traditional approach)</a:t>
              </a:r>
              <a:endParaRPr b="0" i="1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Proprietary Map APIs:</a:t>
              </a: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~₹200,000 / mo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GPU Cloud Inference:</a:t>
              </a: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~₹150,000 / mo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3341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Database Licensing:</a:t>
              </a:r>
              <a:r>
                <a:rPr b="0" i="0" lang="en" sz="1100" u="none" cap="none" strike="noStrike">
                  <a:solidFill>
                    <a:srgbClr val="64748B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~₹50,000 / mo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7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E11D4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TOTAL:~₹400,000 / month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6" name="Google Shape;256;p21"/>
          <p:cNvGrpSpPr/>
          <p:nvPr/>
        </p:nvGrpSpPr>
        <p:grpSpPr>
          <a:xfrm>
            <a:off x="4714875" y="1143000"/>
            <a:ext cx="4048200" cy="3429000"/>
            <a:chOff x="0" y="0"/>
            <a:chExt cx="4048200" cy="3429000"/>
          </a:xfrm>
        </p:grpSpPr>
        <p:sp>
          <p:nvSpPr>
            <p:cNvPr id="257" name="Google Shape;257;p21"/>
            <p:cNvSpPr/>
            <p:nvPr/>
          </p:nvSpPr>
          <p:spPr>
            <a:xfrm>
              <a:off x="0" y="0"/>
              <a:ext cx="40482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2563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0" y="0"/>
              <a:ext cx="4048200" cy="571500"/>
            </a:xfrm>
            <a:prstGeom prst="roundRect">
              <a:avLst>
                <a:gd fmla="val 20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0" y="285750"/>
              <a:ext cx="4048200" cy="285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0" y="0"/>
              <a:ext cx="40482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1E3A8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RESILIO Stack</a:t>
              </a:r>
              <a:endParaRPr b="1" i="0" sz="1800" u="none" cap="none" strike="noStrike">
                <a:solidFill>
                  <a:srgbClr val="1E3A8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21"/>
            <p:cNvSpPr txBox="1"/>
            <p:nvPr/>
          </p:nvSpPr>
          <p:spPr>
            <a:xfrm>
              <a:off x="190500" y="666750"/>
              <a:ext cx="3667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1" lang="en" sz="1100" u="none" cap="none" strike="noStrike">
                  <a:solidFill>
                    <a:srgbClr val="4755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(The high-performance, open-source approach)</a:t>
              </a:r>
              <a:endParaRPr b="0" i="1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MapLibre GL / Deck.gl</a:t>
              </a:r>
              <a:r>
                <a:rPr b="0" i="0" lang="en" sz="1000" u="none" cap="none" strike="noStrike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₹0 (Open-Source Mapping)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LightGBM on CPUs</a:t>
              </a:r>
              <a:r>
                <a:rPr b="0" i="0" lang="en" sz="1000" u="none" cap="none" strike="noStrike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₹0 (Zero GPU Overhead)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125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n" sz="1100" u="none" cap="none" strike="noStrike">
                  <a:solidFill>
                    <a:srgbClr val="1E40A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Localized PostGIS</a:t>
              </a:r>
              <a:r>
                <a:rPr b="0" i="0" lang="en" sz="1000" u="none" cap="none" strike="noStrike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₹0 (Open-Source Database)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875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" sz="1600" u="none" cap="none" strike="noStrike">
                  <a:solidFill>
                    <a:srgbClr val="05966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TOTAL: ₹0 (Licensing)</a:t>
              </a:r>
              <a:endParaRPr b="0" i="0" sz="1100" u="none" cap="none" strike="noStrike">
                <a:solidFill>
                  <a:srgbClr val="475569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267" name="Google Shape;267;p22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400"/>
                <a:buFont typeface="Arial"/>
                <a:buNone/>
              </a:pPr>
              <a:r>
                <a:rPr b="1" i="0" lang="en" sz="64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  <a:endParaRPr b="1" i="0" sz="6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3B82F6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GRIDLOCK HACKATHON | FLIPKART</a:t>
              </a:r>
              <a:endParaRPr b="0" i="0" sz="1800" u="none" cap="none" strike="noStrike">
                <a:solidFill>
                  <a:srgbClr val="3B82F6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69" name="Google Shape;269;p22"/>
          <p:cNvSpPr/>
          <p:nvPr/>
        </p:nvSpPr>
        <p:spPr>
          <a:xfrm>
            <a:off x="762000" y="3810000"/>
            <a:ext cx="7620000" cy="381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